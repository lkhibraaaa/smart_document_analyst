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A7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25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B6CB0">
              <a:alpha val="30000"/>
            </a:srgbClr>
          </a:solidFill>
          <a:ln w="12700">
            <a:solidFill>
              <a:srgbClr val="2B6CB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DOCUMENT ANALYST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de Classification de Documents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5603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•  PyTorch  •  Multi-Agent AI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Intégré — Mai 2026</a:t>
            </a:r>
            <a:endParaRPr lang="en-US" sz="1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C4853E6-B49D-ED7E-DED0-BEED5286AFF1}"/>
              </a:ext>
            </a:extLst>
          </p:cNvPr>
          <p:cNvSpPr txBox="1"/>
          <p:nvPr/>
        </p:nvSpPr>
        <p:spPr>
          <a:xfrm>
            <a:off x="457200" y="3794760"/>
            <a:ext cx="3257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Réalisé par :</a:t>
            </a:r>
          </a:p>
          <a:p>
            <a:r>
              <a:rPr lang="fr-FR" sz="1200" dirty="0">
                <a:solidFill>
                  <a:srgbClr val="90A7BE"/>
                </a:solidFill>
              </a:rPr>
              <a:t>Mohamed Elmehdi Saidi            Salma Abarkane</a:t>
            </a:r>
          </a:p>
          <a:p>
            <a:r>
              <a:rPr lang="fr-FR" sz="1200" dirty="0">
                <a:solidFill>
                  <a:srgbClr val="90A7BE"/>
                </a:solidFill>
              </a:rPr>
              <a:t>Douae Jellal                                  Yassine Oukessou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spécialisés coordonnés par un orchestrateur central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 PyTorch + TF-IDF pour la classification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Docs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CV, Factures et Rapports identifiés et analysés automatiquement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automatiser l'analyse de documents professionnels grâce à l'IA — de la classification jusqu'au résumé — avec validation humaine intégrée.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960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17320" y="14173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572768" y="13167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645920" y="960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4173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035808" y="13167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91440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108960" y="960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498848" y="13167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0F5F8A"/>
          </a:solidFill>
          <a:ln w="12700">
            <a:solidFill>
              <a:srgbClr val="0F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0" y="960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14173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61888" y="13167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91440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035040" y="960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4173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424928" y="13167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91440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498080" y="960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2103120"/>
            <a:ext cx="8595360" cy="640080"/>
          </a:xfrm>
          <a:prstGeom prst="rect">
            <a:avLst/>
          </a:prstGeom>
          <a:solidFill>
            <a:srgbClr val="E8F0F8"/>
          </a:solidFill>
          <a:ln w="12700">
            <a:solidFill>
              <a:srgbClr val="C0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2148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OrchestratorAgent  —  Coordonne l'ensemble du flux et maintient l'état du workflow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2880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3200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PyTorch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1 000 feat.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2880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3200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heuristiques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type de document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2880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200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Ollama phi3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fallback règles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2880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Loop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200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Deep Learning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réseau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508760"/>
            <a:ext cx="292608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527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TF-IDF  (1 000 features)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9202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60119" y="2194560"/>
            <a:ext cx="2981495" cy="411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ReLU + Dropout(0.3)  (256)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26060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60120" y="2880360"/>
            <a:ext cx="2981494" cy="411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ReLU + Dropout(0.3)  (128)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65960" y="329184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60119" y="3566160"/>
            <a:ext cx="2981493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Softmax  (3 classes)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d'entraînement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384048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1527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1527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1e-3)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84248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20025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2002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59736"/>
            <a:ext cx="384048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46320" y="2478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478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10 epochs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35224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46320" y="2953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953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1-2 grammes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10712"/>
            <a:ext cx="3840480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0" y="3429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(test)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exemples (20/classe)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d'Évaluation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822960"/>
            <a:ext cx="2743200" cy="2743200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0175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F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globale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2560320" cy="1005840"/>
          </a:xfrm>
          <a:prstGeom prst="rect">
            <a:avLst/>
          </a:prstGeom>
          <a:solidFill>
            <a:srgbClr val="2B6CB0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1.00  •  Rappel 1.00  •  F1 1.00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3749040"/>
            <a:ext cx="2560320" cy="1005840"/>
          </a:xfrm>
          <a:prstGeom prst="rect">
            <a:avLst/>
          </a:prstGeom>
          <a:solidFill>
            <a:srgbClr val="2B6CB0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54680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1.00  •  Rappel 1.00  •  F1 1.00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3749040"/>
            <a:ext cx="2560320" cy="1005840"/>
          </a:xfrm>
          <a:prstGeom prst="rect">
            <a:avLst/>
          </a:prstGeom>
          <a:solidFill>
            <a:srgbClr val="2B6CB0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0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1.00  •  Rappel 1.00  •  F1 1.00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: diagonale parfaite — aucune erreur de classification sur 60 exemples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4085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 err="1">
                <a:solidFill>
                  <a:schemeClr val="accent1">
                    <a:lumMod val="50000"/>
                  </a:schemeClr>
                </a:solidFill>
              </a:rPr>
              <a:t>Courbes</a:t>
            </a:r>
            <a:r>
              <a:rPr sz="3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z="3200" b="1" dirty="0" err="1">
                <a:solidFill>
                  <a:schemeClr val="accent1">
                    <a:lumMod val="50000"/>
                  </a:schemeClr>
                </a:solidFill>
              </a:rPr>
              <a:t>d'Apprentissage</a:t>
            </a:r>
            <a:endParaRPr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54380"/>
            <a:ext cx="8778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Évolution des pertes d'entraînement et de validation — meilleur modèle sélectionné à l'époque 28.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&amp; Cas Limites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 limites testés — 8 succès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vide / espaces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9080" y="13716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 propre, message d'erreur explicite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8379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très court ("Invoice")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18379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correcte — confiance 99.97%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841248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30428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304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mixte ambigu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23042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Classifié sans crash — résultat structurellement valide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2491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2770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7706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sans montant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27706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partielle, résumé généré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841248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23697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sans nom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9080" y="32369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secours utilisée dans le résumé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7033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sans métriques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37033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générique produit normalement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23944"/>
            <a:ext cx="8412480" cy="40233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169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41696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hors domaine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9080" y="41696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basse (47%) — comportement attendu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30352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PyTorch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5819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3 couches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73152" cy="15544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410712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scikit-learn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0712" y="15819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LabelEncoder,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73152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91072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Ollama / phi3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91072" y="15819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LLM local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 règles)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73152" cy="1554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0352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+ pandas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410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données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orchestration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46120" y="2788920"/>
            <a:ext cx="73152" cy="1554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410712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JSON Logging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10712" y="3410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horodatée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toutes les actions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7889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73152" cy="1554480"/>
          </a:xfrm>
          <a:prstGeom prst="rect">
            <a:avLst/>
          </a:prstGeom>
          <a:solidFill>
            <a:srgbClr val="6D44B8"/>
          </a:solidFill>
          <a:ln w="12700">
            <a:solidFill>
              <a:srgbClr val="6D44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291072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CLI Interface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91072" y="34107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et intuitif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2B6CB0">
              <a:alpha val="25000"/>
            </a:srgbClr>
          </a:solidFill>
          <a:ln w="12700">
            <a:solidFill>
              <a:srgbClr val="2B6CB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4A90D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Système multi-agent complet : 4 agents + orchestrateur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928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Modèle PyTorch avec précision 100% sur le jeu de 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597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LLM local Ollama avec fallback automatique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2666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8/8 cas limites passés — robustesse validée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593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Human-in-the-loop, journalisation JSON, rapport final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 : embeddings transformer (BERT), nouveaux types de documents, interface graphique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501</Words>
  <Application>Microsoft Office PowerPoint</Application>
  <PresentationFormat>Affichage à l'écran (16:9)</PresentationFormat>
  <Paragraphs>135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Document Analyst — Présentation du Projet</dc:title>
  <dc:subject>PptxGenJS Presentation</dc:subject>
  <dc:creator>Smart Document Analyst</dc:creator>
  <cp:lastModifiedBy>Mohamed El Mehdi SAIDI</cp:lastModifiedBy>
  <cp:revision>4</cp:revision>
  <dcterms:created xsi:type="dcterms:W3CDTF">2026-05-24T14:40:50Z</dcterms:created>
  <dcterms:modified xsi:type="dcterms:W3CDTF">2026-05-25T17:07:42Z</dcterms:modified>
</cp:coreProperties>
</file>